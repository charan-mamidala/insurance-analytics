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6" r:id="rId21"/>
    <p:sldId id="275" r:id="rId22"/>
    <p:sldId id="277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307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3.png"/><Relationship Id="rId7" Type="http://schemas.openxmlformats.org/officeDocument/2006/relationships/image" Target="../media/image31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E3A8A"/>
            </a:gs>
            <a:gs pos="50000">
              <a:srgbClr val="1E40AF"/>
            </a:gs>
            <a:gs pos="100000">
              <a:srgbClr val="3B82F6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72692" y="83205"/>
            <a:ext cx="1904952" cy="14350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86742" y="5744385"/>
            <a:ext cx="1428714" cy="103568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620009" y="1232038"/>
            <a:ext cx="1142971" cy="583923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52476" y="4662301"/>
            <a:ext cx="952476" cy="58139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143371" y="2114550"/>
            <a:ext cx="1914477" cy="514350"/>
          </a:xfrm>
          <a:prstGeom prst="roundRect">
            <a:avLst>
              <a:gd name="adj" fmla="val 37033333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57688" y="2228850"/>
            <a:ext cx="1285842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Poppins"/>
              </a:rPr>
              <a:t>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66853" y="2857500"/>
            <a:ext cx="8448463" cy="8572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5850"/>
              </a:lnSpc>
              <a:spcBef>
                <a:spcPts val="0"/>
              </a:spcBef>
              <a:spcAft>
                <a:spcPts val="2080"/>
              </a:spcAft>
            </a:pPr>
            <a:r>
              <a:rPr sz="4305" b="1">
                <a:solidFill>
                  <a:srgbClr val="FFFFFF"/>
                </a:solidFill>
                <a:latin typeface="Montserrat"/>
              </a:rPr>
              <a:t>INSURANCE ANALYTICS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262" y="4019549"/>
            <a:ext cx="1219169" cy="5715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93C5FD"/>
              </a:gs>
              <a:gs pos="100000">
                <a:srgbClr val="000000">
                  <a:alpha val="0"/>
                </a:srgbClr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800279" y="4381499"/>
            <a:ext cx="6591135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DBEAFE"/>
                </a:solidFill>
                <a:latin typeface="Poppins"/>
              </a:rPr>
              <a:t>Strategic Data Insights &amp; Business Intelligence Solutions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95567" y="6198316"/>
            <a:ext cx="171445" cy="13826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543211" y="6172200"/>
            <a:ext cx="1362040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BFDBFE"/>
                </a:solidFill>
                <a:latin typeface="Poppins"/>
              </a:rPr>
              <a:t>Data-Driven Insights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210044" y="6198316"/>
            <a:ext cx="171445" cy="13826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457688" y="6172200"/>
            <a:ext cx="1381090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BFDBFE"/>
                </a:solidFill>
                <a:latin typeface="Poppins"/>
              </a:rPr>
              <a:t>Business Intelligence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143571" y="6194168"/>
            <a:ext cx="171445" cy="14656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391215" y="6172200"/>
            <a:ext cx="1504912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BFDBFE"/>
                </a:solidFill>
                <a:latin typeface="Poppins"/>
              </a:rPr>
              <a:t>Performance Analytics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E3A8A"/>
            </a:gs>
            <a:gs pos="50000">
              <a:srgbClr val="1E40AF"/>
            </a:gs>
            <a:gs pos="100000">
              <a:srgbClr val="3B82F6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9584" y="308412"/>
            <a:ext cx="342891" cy="18327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04872" y="209550"/>
            <a:ext cx="2371665" cy="3809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FFFFFF"/>
                </a:solidFill>
                <a:latin typeface="Montserrat"/>
              </a:rPr>
              <a:t>Presented by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33806" y="1085850"/>
            <a:ext cx="2724081" cy="781050"/>
          </a:xfrm>
          <a:prstGeom prst="roundRect">
            <a:avLst>
              <a:gd name="adj" fmla="val 39024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124321" y="1238249"/>
            <a:ext cx="1943051" cy="4572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2870" b="1">
                <a:solidFill>
                  <a:srgbClr val="FFFFFF"/>
                </a:solidFill>
                <a:latin typeface="Montserrat"/>
              </a:rPr>
              <a:t>Group 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754" y="2476499"/>
            <a:ext cx="2638359" cy="1771650"/>
          </a:xfrm>
          <a:prstGeom prst="roundRect">
            <a:avLst>
              <a:gd name="adj" fmla="val 12903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847903" y="2705099"/>
            <a:ext cx="609584" cy="609600"/>
          </a:xfrm>
          <a:prstGeom prst="roundRect">
            <a:avLst>
              <a:gd name="adj" fmla="val 31246875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9824" y="2907846"/>
            <a:ext cx="285742" cy="2041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066873" y="3467100"/>
            <a:ext cx="2162120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076" b="1">
                <a:solidFill>
                  <a:srgbClr val="FFFFFF"/>
                </a:solidFill>
                <a:latin typeface="Poppins"/>
              </a:rPr>
              <a:t>MATURU PAVAN KUMAR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66873" y="3809999"/>
            <a:ext cx="2162120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BFDBFE"/>
                </a:solidFill>
                <a:latin typeface="Poppins"/>
              </a:rPr>
              <a:t>Member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71905" y="2476499"/>
            <a:ext cx="2638359" cy="1771650"/>
          </a:xfrm>
          <a:prstGeom prst="roundRect">
            <a:avLst>
              <a:gd name="adj" fmla="val 12903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791055" y="2705099"/>
            <a:ext cx="609584" cy="609600"/>
          </a:xfrm>
          <a:prstGeom prst="roundRect">
            <a:avLst>
              <a:gd name="adj" fmla="val 31246875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52976" y="2907846"/>
            <a:ext cx="285742" cy="20410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010024" y="3467100"/>
            <a:ext cx="2162120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076" b="1">
                <a:solidFill>
                  <a:srgbClr val="FFFFFF"/>
                </a:solidFill>
                <a:latin typeface="Poppins"/>
              </a:rPr>
              <a:t>Mamidala Charan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10024" y="3809999"/>
            <a:ext cx="2162120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BFDBFE"/>
                </a:solidFill>
                <a:latin typeface="Poppins"/>
              </a:rPr>
              <a:t>Member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4581" y="2476499"/>
            <a:ext cx="2638359" cy="1771650"/>
          </a:xfrm>
          <a:prstGeom prst="roundRect">
            <a:avLst>
              <a:gd name="adj" fmla="val 12903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734206" y="2705099"/>
            <a:ext cx="609584" cy="609600"/>
          </a:xfrm>
          <a:prstGeom prst="roundRect">
            <a:avLst>
              <a:gd name="adj" fmla="val 31246875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96127" y="2907846"/>
            <a:ext cx="285742" cy="204107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962700" y="3467100"/>
            <a:ext cx="2162120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076" b="1">
                <a:solidFill>
                  <a:srgbClr val="FFFFFF"/>
                </a:solidFill>
                <a:latin typeface="Poppins"/>
              </a:rPr>
              <a:t>Shahil Farshad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62700" y="3809999"/>
            <a:ext cx="2162120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BFDBFE"/>
                </a:solidFill>
                <a:latin typeface="Poppins"/>
              </a:rPr>
              <a:t>Member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828754" y="4552949"/>
            <a:ext cx="2638359" cy="2038349"/>
          </a:xfrm>
          <a:prstGeom prst="roundRect">
            <a:avLst>
              <a:gd name="adj" fmla="val 11214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2847903" y="4781549"/>
            <a:ext cx="609584" cy="609600"/>
          </a:xfrm>
          <a:prstGeom prst="roundRect">
            <a:avLst>
              <a:gd name="adj" fmla="val 31246875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9824" y="4984296"/>
            <a:ext cx="285742" cy="204107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2066873" y="5543550"/>
            <a:ext cx="2162120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076" b="1">
                <a:solidFill>
                  <a:srgbClr val="FFFFFF"/>
                </a:solidFill>
                <a:latin typeface="Poppins"/>
              </a:rPr>
              <a:t>Kale Vaibhav Dadasheb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66873" y="5886450"/>
            <a:ext cx="2162120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BFDBFE"/>
                </a:solidFill>
                <a:latin typeface="Poppins"/>
              </a:rPr>
              <a:t>Member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71905" y="4552949"/>
            <a:ext cx="2638359" cy="2038349"/>
          </a:xfrm>
          <a:prstGeom prst="roundRect">
            <a:avLst>
              <a:gd name="adj" fmla="val 11214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5791055" y="4781549"/>
            <a:ext cx="609584" cy="609600"/>
          </a:xfrm>
          <a:prstGeom prst="roundRect">
            <a:avLst>
              <a:gd name="adj" fmla="val 31246875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52976" y="4984296"/>
            <a:ext cx="285742" cy="204107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010024" y="5543550"/>
            <a:ext cx="2162120" cy="5333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076" b="1">
                <a:solidFill>
                  <a:srgbClr val="FFFFFF"/>
                </a:solidFill>
                <a:latin typeface="Poppins"/>
              </a:rPr>
              <a:t>Madhushri Veeranna Malagar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10024" y="6153149"/>
            <a:ext cx="2162120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BFDBFE"/>
                </a:solidFill>
                <a:latin typeface="Poppins"/>
              </a:rPr>
              <a:t>Member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24581" y="4552949"/>
            <a:ext cx="2638359" cy="2038349"/>
          </a:xfrm>
          <a:prstGeom prst="roundRect">
            <a:avLst>
              <a:gd name="adj" fmla="val 11214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8734206" y="4781549"/>
            <a:ext cx="609584" cy="609600"/>
          </a:xfrm>
          <a:prstGeom prst="roundRect">
            <a:avLst>
              <a:gd name="adj" fmla="val 31246875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96127" y="4984296"/>
            <a:ext cx="285742" cy="204107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7962700" y="5543550"/>
            <a:ext cx="2162120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076" b="1">
                <a:solidFill>
                  <a:srgbClr val="FFFFFF"/>
                </a:solidFill>
                <a:latin typeface="Poppins"/>
              </a:rPr>
              <a:t>Pankaj Bhaskar Patil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62700" y="5886450"/>
            <a:ext cx="2162120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BFDBFE"/>
                </a:solidFill>
                <a:latin typeface="Poppins"/>
              </a:rPr>
              <a:t>Member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E3A8A"/>
            </a:gs>
            <a:gs pos="50000">
              <a:srgbClr val="1E40AF"/>
            </a:gs>
            <a:gs pos="100000">
              <a:srgbClr val="3B82F6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9584" y="282137"/>
            <a:ext cx="342891" cy="15962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04872" y="171450"/>
            <a:ext cx="3152696" cy="3809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FFFFFF"/>
                </a:solidFill>
                <a:latin typeface="Montserrat"/>
              </a:rPr>
              <a:t>Table of Contents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584" y="1200150"/>
            <a:ext cx="5181470" cy="857250"/>
          </a:xfrm>
          <a:prstGeom prst="roundRect">
            <a:avLst>
              <a:gd name="adj" fmla="val 26666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9604" y="1400175"/>
            <a:ext cx="457188" cy="457200"/>
          </a:xfrm>
          <a:prstGeom prst="roundRect">
            <a:avLst>
              <a:gd name="adj" fmla="val 33333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3901" y="1531620"/>
            <a:ext cx="228594" cy="19430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19189" y="1495424"/>
            <a:ext cx="1076298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Poppins"/>
              </a:rPr>
              <a:t>Introduction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639" y="1200150"/>
            <a:ext cx="5181470" cy="857250"/>
          </a:xfrm>
          <a:prstGeom prst="roundRect">
            <a:avLst>
              <a:gd name="adj" fmla="val 26666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600659" y="1400175"/>
            <a:ext cx="457188" cy="457200"/>
          </a:xfrm>
          <a:prstGeom prst="roundRect">
            <a:avLst>
              <a:gd name="adj" fmla="val 33333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14957" y="1543050"/>
            <a:ext cx="228594" cy="1714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210244" y="1495424"/>
            <a:ext cx="2000199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Poppins"/>
              </a:rPr>
              <a:t>Objectives of the Study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9584" y="2286000"/>
            <a:ext cx="5181470" cy="857250"/>
          </a:xfrm>
          <a:prstGeom prst="roundRect">
            <a:avLst>
              <a:gd name="adj" fmla="val 26666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09604" y="2486025"/>
            <a:ext cx="457188" cy="457200"/>
          </a:xfrm>
          <a:prstGeom prst="roundRect">
            <a:avLst>
              <a:gd name="adj" fmla="val 33333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23901" y="2626042"/>
            <a:ext cx="228594" cy="17716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419189" y="2581275"/>
            <a:ext cx="1666833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Poppins"/>
              </a:rPr>
              <a:t>KPIs List (Part 1 &amp; 2)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639" y="2286000"/>
            <a:ext cx="5181470" cy="857250"/>
          </a:xfrm>
          <a:prstGeom prst="roundRect">
            <a:avLst>
              <a:gd name="adj" fmla="val 26666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600659" y="2486025"/>
            <a:ext cx="457188" cy="457200"/>
          </a:xfrm>
          <a:prstGeom prst="roundRect">
            <a:avLst>
              <a:gd name="adj" fmla="val 33333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14957" y="2604611"/>
            <a:ext cx="228594" cy="220027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210244" y="2581275"/>
            <a:ext cx="457188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Poppins"/>
              </a:rPr>
              <a:t>Tools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9584" y="3371850"/>
            <a:ext cx="5181470" cy="857250"/>
          </a:xfrm>
          <a:prstGeom prst="roundRect">
            <a:avLst>
              <a:gd name="adj" fmla="val 26666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09604" y="3571875"/>
            <a:ext cx="457188" cy="457200"/>
          </a:xfrm>
          <a:prstGeom prst="roundRect">
            <a:avLst>
              <a:gd name="adj" fmla="val 33333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23901" y="3711892"/>
            <a:ext cx="228594" cy="17716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419189" y="3667124"/>
            <a:ext cx="1457288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Poppins"/>
              </a:rPr>
              <a:t>Excel Dashboard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639" y="3371850"/>
            <a:ext cx="5181470" cy="857250"/>
          </a:xfrm>
          <a:prstGeom prst="roundRect">
            <a:avLst>
              <a:gd name="adj" fmla="val 26666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600659" y="3571875"/>
            <a:ext cx="457188" cy="457200"/>
          </a:xfrm>
          <a:prstGeom prst="roundRect">
            <a:avLst>
              <a:gd name="adj" fmla="val 33333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14957" y="3711892"/>
            <a:ext cx="228594" cy="17716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210244" y="3667124"/>
            <a:ext cx="1743031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Poppins"/>
              </a:rPr>
              <a:t>Power BI Dashboard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9584" y="4457700"/>
            <a:ext cx="5181470" cy="857250"/>
          </a:xfrm>
          <a:prstGeom prst="roundRect">
            <a:avLst>
              <a:gd name="adj" fmla="val 26666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09604" y="4657725"/>
            <a:ext cx="457188" cy="457200"/>
          </a:xfrm>
          <a:prstGeom prst="roundRect">
            <a:avLst>
              <a:gd name="adj" fmla="val 33333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23901" y="4814887"/>
            <a:ext cx="228594" cy="142875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419189" y="4752974"/>
            <a:ext cx="1723981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Poppins"/>
              </a:rPr>
              <a:t>Tableau Dashboard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639" y="4457700"/>
            <a:ext cx="5181470" cy="857250"/>
          </a:xfrm>
          <a:prstGeom prst="roundRect">
            <a:avLst>
              <a:gd name="adj" fmla="val 26666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6600659" y="4657725"/>
            <a:ext cx="457188" cy="457200"/>
          </a:xfrm>
          <a:prstGeom prst="roundRect">
            <a:avLst>
              <a:gd name="adj" fmla="val 33333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714957" y="4803457"/>
            <a:ext cx="228594" cy="165734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7210244" y="4752974"/>
            <a:ext cx="1285842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Poppins"/>
              </a:rPr>
              <a:t>MySQL Queries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09584" y="5543550"/>
            <a:ext cx="5181470" cy="857250"/>
          </a:xfrm>
          <a:prstGeom prst="roundRect">
            <a:avLst>
              <a:gd name="adj" fmla="val 26666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09604" y="5743575"/>
            <a:ext cx="457188" cy="457200"/>
          </a:xfrm>
          <a:prstGeom prst="roundRect">
            <a:avLst>
              <a:gd name="adj" fmla="val 33333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923901" y="5875019"/>
            <a:ext cx="228594" cy="194309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419189" y="5838824"/>
            <a:ext cx="1057248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Poppins"/>
              </a:rPr>
              <a:t>Key Insights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639" y="5543550"/>
            <a:ext cx="5181470" cy="857250"/>
          </a:xfrm>
          <a:prstGeom prst="roundRect">
            <a:avLst>
              <a:gd name="adj" fmla="val 26666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6600659" y="5743575"/>
            <a:ext cx="457188" cy="457200"/>
          </a:xfrm>
          <a:prstGeom prst="roundRect">
            <a:avLst>
              <a:gd name="adj" fmla="val 33333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714957" y="5872162"/>
            <a:ext cx="228594" cy="200025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7210244" y="5838824"/>
            <a:ext cx="914377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Poppins"/>
              </a:rPr>
              <a:t>Thank You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E3A8A"/>
            </a:gs>
            <a:gs pos="50000">
              <a:srgbClr val="1E40AF"/>
            </a:gs>
            <a:gs pos="100000">
              <a:srgbClr val="3B82F6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9584" y="255204"/>
            <a:ext cx="342891" cy="28969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04872" y="209550"/>
            <a:ext cx="2257368" cy="3809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FFFFFF"/>
                </a:solidFill>
                <a:latin typeface="Montserrat"/>
              </a:rPr>
              <a:t>Introduction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584" y="2314575"/>
            <a:ext cx="5295767" cy="1714500"/>
          </a:xfrm>
          <a:prstGeom prst="roundRect">
            <a:avLst>
              <a:gd name="adj" fmla="val 13333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7703" y="2601685"/>
            <a:ext cx="285742" cy="2449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5842" y="2552700"/>
            <a:ext cx="4381390" cy="123824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Poppins"/>
              </a:rPr>
              <a:t>Uncovering meaningful business insights from insurance data by analyzing policy performance, customer behavior, and claims patterns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584" y="4257675"/>
            <a:ext cx="5295767" cy="1095374"/>
          </a:xfrm>
          <a:prstGeom prst="roundRect">
            <a:avLst>
              <a:gd name="adj" fmla="val 20869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7703" y="4533122"/>
            <a:ext cx="285742" cy="26825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285842" y="4495799"/>
            <a:ext cx="4381390" cy="61912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Poppins"/>
              </a:rPr>
              <a:t>Transforming raw and fragmented data into actionable insights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86342" y="2038349"/>
            <a:ext cx="5295767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520"/>
              </a:spcAft>
            </a:pPr>
            <a:r>
              <a:rPr sz="1794" b="1">
                <a:solidFill>
                  <a:srgbClr val="FFFFFF"/>
                </a:solidFill>
                <a:latin typeface="Montserrat"/>
              </a:rPr>
              <a:t>Key Business Drivers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86342" y="2609850"/>
            <a:ext cx="5295767" cy="666750"/>
          </a:xfrm>
          <a:prstGeom prst="roundRect">
            <a:avLst>
              <a:gd name="adj" fmla="val 34285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48263" y="2874022"/>
            <a:ext cx="285742" cy="15745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886402" y="2800350"/>
            <a:ext cx="1914477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Poppins"/>
              </a:rPr>
              <a:t>Revenue Growth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86342" y="3390899"/>
            <a:ext cx="5295767" cy="666750"/>
          </a:xfrm>
          <a:prstGeom prst="roundRect">
            <a:avLst>
              <a:gd name="adj" fmla="val 34285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48263" y="3655072"/>
            <a:ext cx="285742" cy="15745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886402" y="3581400"/>
            <a:ext cx="2876478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Poppins"/>
              </a:rPr>
              <a:t>Customer Segmentation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86342" y="4171950"/>
            <a:ext cx="5295767" cy="666750"/>
          </a:xfrm>
          <a:prstGeom prst="roundRect">
            <a:avLst>
              <a:gd name="adj" fmla="val 34285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448263" y="4380722"/>
            <a:ext cx="285742" cy="26825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886402" y="4362450"/>
            <a:ext cx="2657408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Poppins"/>
              </a:rPr>
              <a:t>Policy Adoption Trends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86342" y="4952999"/>
            <a:ext cx="5295767" cy="666750"/>
          </a:xfrm>
          <a:prstGeom prst="roundRect">
            <a:avLst>
              <a:gd name="adj" fmla="val 34285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448263" y="5179267"/>
            <a:ext cx="285742" cy="23326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886402" y="5143500"/>
            <a:ext cx="1714457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Poppins"/>
              </a:rPr>
              <a:t>Claims Impact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E3A8A"/>
            </a:gs>
            <a:gs pos="50000">
              <a:srgbClr val="1E40AF"/>
            </a:gs>
            <a:gs pos="100000">
              <a:srgbClr val="3B82F6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9584" y="272940"/>
            <a:ext cx="342891" cy="25421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04872" y="209550"/>
            <a:ext cx="4200419" cy="3809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FFFFFF"/>
                </a:solidFill>
                <a:latin typeface="Montserrat"/>
              </a:rPr>
              <a:t>Objectives of the Study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584" y="1343025"/>
            <a:ext cx="5371965" cy="1714500"/>
          </a:xfrm>
          <a:prstGeom prst="roundRect">
            <a:avLst>
              <a:gd name="adj" fmla="val 13333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47703" y="1581149"/>
            <a:ext cx="533386" cy="533399"/>
          </a:xfrm>
          <a:prstGeom prst="roundRect">
            <a:avLst>
              <a:gd name="adj" fmla="val 28571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7248" y="1676400"/>
            <a:ext cx="114297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1585" y="1711972"/>
            <a:ext cx="285742" cy="15745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009724" y="1581149"/>
            <a:ext cx="3733706" cy="93344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Poppins"/>
              </a:rPr>
              <a:t>Identify trends and patterns in policy sales, customer demographics, and claims behavior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0144" y="1343025"/>
            <a:ext cx="5371965" cy="1714500"/>
          </a:xfrm>
          <a:prstGeom prst="roundRect">
            <a:avLst>
              <a:gd name="adj" fmla="val 13333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448263" y="1581149"/>
            <a:ext cx="533386" cy="533399"/>
          </a:xfrm>
          <a:prstGeom prst="roundRect">
            <a:avLst>
              <a:gd name="adj" fmla="val 28571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29234" y="1676400"/>
            <a:ext cx="171445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72145" y="1679898"/>
            <a:ext cx="285742" cy="22160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610284" y="1581149"/>
            <a:ext cx="3733706" cy="123824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Poppins"/>
              </a:rPr>
              <a:t>Analyze branch-level and individual performance to uncover top performers and areas needing improvement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584" y="3286125"/>
            <a:ext cx="5371965" cy="1409699"/>
          </a:xfrm>
          <a:prstGeom prst="roundRect">
            <a:avLst>
              <a:gd name="adj" fmla="val 16216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47703" y="3524250"/>
            <a:ext cx="533386" cy="533399"/>
          </a:xfrm>
          <a:prstGeom prst="roundRect">
            <a:avLst>
              <a:gd name="adj" fmla="val 28571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28674" y="3619499"/>
            <a:ext cx="171445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71585" y="3649241"/>
            <a:ext cx="285742" cy="169117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009724" y="3524250"/>
            <a:ext cx="3733706" cy="93344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Poppins"/>
              </a:rPr>
              <a:t>Evaluate business growth through metrics such as premium growth, conversion rates, and retention trends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0144" y="3286125"/>
            <a:ext cx="5371965" cy="1409699"/>
          </a:xfrm>
          <a:prstGeom prst="roundRect">
            <a:avLst>
              <a:gd name="adj" fmla="val 16216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448263" y="3524250"/>
            <a:ext cx="533386" cy="533399"/>
          </a:xfrm>
          <a:prstGeom prst="roundRect">
            <a:avLst>
              <a:gd name="adj" fmla="val 28571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19709" y="3619499"/>
            <a:ext cx="200019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72145" y="3622998"/>
            <a:ext cx="285742" cy="22160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610284" y="3524250"/>
            <a:ext cx="3733706" cy="93344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Poppins"/>
              </a:rPr>
              <a:t>Detect inefficiencies and bottlenecks in the sales funnel and opportunity pipeline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9584" y="4914900"/>
            <a:ext cx="5371965" cy="1409699"/>
          </a:xfrm>
          <a:prstGeom prst="roundRect">
            <a:avLst>
              <a:gd name="adj" fmla="val 16216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47703" y="5162550"/>
            <a:ext cx="533386" cy="533399"/>
          </a:xfrm>
          <a:prstGeom prst="roundRect">
            <a:avLst>
              <a:gd name="adj" fmla="val 28571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28674" y="5257800"/>
            <a:ext cx="171445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FFFFFF"/>
                </a:solidFill>
                <a:latin typeface="Montserrat"/>
              </a:rPr>
              <a:t>5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571585" y="5281709"/>
            <a:ext cx="285742" cy="18078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2009724" y="5162550"/>
            <a:ext cx="3733706" cy="93344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Poppins"/>
              </a:rPr>
              <a:t>Provide insights into customer segmentation for targeted marketing and engagement strategies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0144" y="4914900"/>
            <a:ext cx="5371965" cy="1409699"/>
          </a:xfrm>
          <a:prstGeom prst="roundRect">
            <a:avLst>
              <a:gd name="adj" fmla="val 16216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6448263" y="5162550"/>
            <a:ext cx="533386" cy="533399"/>
          </a:xfrm>
          <a:prstGeom prst="roundRect">
            <a:avLst>
              <a:gd name="adj" fmla="val 28571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619709" y="5257800"/>
            <a:ext cx="180970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FFFFFF"/>
                </a:solidFill>
                <a:latin typeface="Montserrat"/>
              </a:rPr>
              <a:t>6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172145" y="5261298"/>
            <a:ext cx="285742" cy="221602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7610284" y="5162550"/>
            <a:ext cx="3733706" cy="93344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FFFFFF"/>
                </a:solidFill>
                <a:latin typeface="Poppins"/>
              </a:rPr>
              <a:t>Support proactive decision-making by highlighting risks, opportunities, and future business potential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E3A8A"/>
            </a:gs>
            <a:gs pos="50000">
              <a:srgbClr val="1E40AF"/>
            </a:gs>
            <a:gs pos="100000">
              <a:srgbClr val="3B82F6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9584" y="267028"/>
            <a:ext cx="342891" cy="26604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04872" y="209550"/>
            <a:ext cx="2847903" cy="3809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FFFFFF"/>
                </a:solidFill>
                <a:latin typeface="Montserrat"/>
              </a:rPr>
              <a:t>KPIs List - Part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584" y="1123949"/>
            <a:ext cx="5333866" cy="933449"/>
          </a:xfrm>
          <a:prstGeom prst="roundRect">
            <a:avLst>
              <a:gd name="adj" fmla="val 24489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9604" y="1314450"/>
            <a:ext cx="533386" cy="533399"/>
          </a:xfrm>
          <a:prstGeom prst="roundRect">
            <a:avLst>
              <a:gd name="adj" fmla="val 28571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19149" y="1409699"/>
            <a:ext cx="114297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33486" y="1447800"/>
            <a:ext cx="1371565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Poppins"/>
              </a:rPr>
              <a:t>Total Revenue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8243" y="1123949"/>
            <a:ext cx="5333866" cy="933449"/>
          </a:xfrm>
          <a:prstGeom prst="roundRect">
            <a:avLst>
              <a:gd name="adj" fmla="val 24489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448263" y="1314450"/>
            <a:ext cx="533386" cy="533399"/>
          </a:xfrm>
          <a:prstGeom prst="roundRect">
            <a:avLst>
              <a:gd name="adj" fmla="val 28571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29234" y="1409699"/>
            <a:ext cx="171445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2145" y="1447800"/>
            <a:ext cx="1428714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Poppins"/>
              </a:rPr>
              <a:t>Total Meetings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9584" y="2247899"/>
            <a:ext cx="5333866" cy="933449"/>
          </a:xfrm>
          <a:prstGeom prst="roundRect">
            <a:avLst>
              <a:gd name="adj" fmla="val 24489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09604" y="2438400"/>
            <a:ext cx="533386" cy="533399"/>
          </a:xfrm>
          <a:prstGeom prst="roundRect">
            <a:avLst>
              <a:gd name="adj" fmla="val 28571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90575" y="2533649"/>
            <a:ext cx="171445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3486" y="2571750"/>
            <a:ext cx="1104872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Poppins"/>
              </a:rPr>
              <a:t>Total Policy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8243" y="2247899"/>
            <a:ext cx="5333866" cy="933449"/>
          </a:xfrm>
          <a:prstGeom prst="roundRect">
            <a:avLst>
              <a:gd name="adj" fmla="val 24489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448263" y="2438400"/>
            <a:ext cx="533386" cy="533399"/>
          </a:xfrm>
          <a:prstGeom prst="roundRect">
            <a:avLst>
              <a:gd name="adj" fmla="val 28571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19709" y="2533649"/>
            <a:ext cx="200019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72145" y="2571750"/>
            <a:ext cx="1390615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Poppins"/>
              </a:rPr>
              <a:t>Active Policies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9584" y="3371850"/>
            <a:ext cx="5333866" cy="933449"/>
          </a:xfrm>
          <a:prstGeom prst="roundRect">
            <a:avLst>
              <a:gd name="adj" fmla="val 24489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09604" y="3562349"/>
            <a:ext cx="533386" cy="533399"/>
          </a:xfrm>
          <a:prstGeom prst="roundRect">
            <a:avLst>
              <a:gd name="adj" fmla="val 28571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90575" y="3657600"/>
            <a:ext cx="171445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FFFFFF"/>
                </a:solidFill>
                <a:latin typeface="Montserrat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33486" y="3695699"/>
            <a:ext cx="1562060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Poppins"/>
              </a:rPr>
              <a:t>Inactive Policies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48243" y="3371850"/>
            <a:ext cx="5333866" cy="933449"/>
          </a:xfrm>
          <a:prstGeom prst="roundRect">
            <a:avLst>
              <a:gd name="adj" fmla="val 24489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448263" y="3562349"/>
            <a:ext cx="533386" cy="533399"/>
          </a:xfrm>
          <a:prstGeom prst="roundRect">
            <a:avLst>
              <a:gd name="adj" fmla="val 28571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619709" y="3657600"/>
            <a:ext cx="180970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FFFFFF"/>
                </a:solidFill>
                <a:latin typeface="Montserrat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72145" y="3695699"/>
            <a:ext cx="504812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Poppins"/>
              </a:rPr>
              <a:t>Profit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9584" y="4495799"/>
            <a:ext cx="5333866" cy="933449"/>
          </a:xfrm>
          <a:prstGeom prst="roundRect">
            <a:avLst>
              <a:gd name="adj" fmla="val 24489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09604" y="4686300"/>
            <a:ext cx="533386" cy="533399"/>
          </a:xfrm>
          <a:prstGeom prst="roundRect">
            <a:avLst>
              <a:gd name="adj" fmla="val 28571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90575" y="4781549"/>
            <a:ext cx="180970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FFFFFF"/>
                </a:solidFill>
                <a:latin typeface="Montserrat"/>
              </a:rP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33486" y="4819650"/>
            <a:ext cx="1514437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Poppins"/>
              </a:rPr>
              <a:t>Claim Ratio (%)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48243" y="4495799"/>
            <a:ext cx="5333866" cy="933449"/>
          </a:xfrm>
          <a:prstGeom prst="roundRect">
            <a:avLst>
              <a:gd name="adj" fmla="val 24489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6448263" y="4686300"/>
            <a:ext cx="533386" cy="533399"/>
          </a:xfrm>
          <a:prstGeom prst="roundRect">
            <a:avLst>
              <a:gd name="adj" fmla="val 28571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619709" y="4781549"/>
            <a:ext cx="190495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FFFFFF"/>
                </a:solidFill>
                <a:latin typeface="Montserrat"/>
              </a:rPr>
              <a:t>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72145" y="4819650"/>
            <a:ext cx="2438339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Poppins"/>
              </a:rPr>
              <a:t>Stage Funnel by Revenue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09584" y="5619750"/>
            <a:ext cx="5333866" cy="933449"/>
          </a:xfrm>
          <a:prstGeom prst="roundRect">
            <a:avLst>
              <a:gd name="adj" fmla="val 24489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09604" y="5810249"/>
            <a:ext cx="533386" cy="533399"/>
          </a:xfrm>
          <a:prstGeom prst="roundRect">
            <a:avLst>
              <a:gd name="adj" fmla="val 28571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81050" y="5905500"/>
            <a:ext cx="180970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FFFFFF"/>
                </a:solidFill>
                <a:latin typeface="Montserrat"/>
              </a:rPr>
              <a:t>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33486" y="5943600"/>
            <a:ext cx="3238419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Poppins"/>
              </a:rPr>
              <a:t>Claim Ratio by Account Executive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48243" y="5619750"/>
            <a:ext cx="5333866" cy="933449"/>
          </a:xfrm>
          <a:prstGeom prst="roundRect">
            <a:avLst>
              <a:gd name="adj" fmla="val 24489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6448263" y="5810249"/>
            <a:ext cx="533386" cy="533399"/>
          </a:xfrm>
          <a:prstGeom prst="roundRect">
            <a:avLst>
              <a:gd name="adj" fmla="val 28571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562560" y="5905500"/>
            <a:ext cx="304792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FFFFFF"/>
                </a:solidFill>
                <a:latin typeface="Montserrat"/>
              </a:rPr>
              <a:t>10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72145" y="5943600"/>
            <a:ext cx="3171745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Poppins"/>
              </a:rPr>
              <a:t>Revenue Collected by Executives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E3A8A"/>
            </a:gs>
            <a:gs pos="50000">
              <a:srgbClr val="1E40AF"/>
            </a:gs>
            <a:gs pos="100000">
              <a:srgbClr val="3B82F6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9584" y="267028"/>
            <a:ext cx="342891" cy="26604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04872" y="209550"/>
            <a:ext cx="2924101" cy="3809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FFFFFF"/>
                </a:solidFill>
                <a:latin typeface="Montserrat"/>
              </a:rPr>
              <a:t>KPIs List - Part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584" y="1123949"/>
            <a:ext cx="5333866" cy="933449"/>
          </a:xfrm>
          <a:prstGeom prst="roundRect">
            <a:avLst>
              <a:gd name="adj" fmla="val 24489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9604" y="1314450"/>
            <a:ext cx="533386" cy="533399"/>
          </a:xfrm>
          <a:prstGeom prst="roundRect">
            <a:avLst>
              <a:gd name="adj" fmla="val 28571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2000" y="1409699"/>
            <a:ext cx="228594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FFFFFF"/>
                </a:solidFill>
                <a:latin typeface="Montserrat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33486" y="1314450"/>
            <a:ext cx="4209944" cy="5333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Poppins"/>
              </a:rPr>
              <a:t>Policy Portfolio Distribution (New / Cross Sell / Renewal)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8243" y="1123949"/>
            <a:ext cx="5333866" cy="933449"/>
          </a:xfrm>
          <a:prstGeom prst="roundRect">
            <a:avLst>
              <a:gd name="adj" fmla="val 24489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448263" y="1314450"/>
            <a:ext cx="533386" cy="533399"/>
          </a:xfrm>
          <a:prstGeom prst="roundRect">
            <a:avLst>
              <a:gd name="adj" fmla="val 28571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72085" y="1409699"/>
            <a:ext cx="276218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FFFFFF"/>
                </a:solidFill>
                <a:latin typeface="Montserrat"/>
              </a:rPr>
              <a:t>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2145" y="1447800"/>
            <a:ext cx="3247943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Poppins"/>
              </a:rPr>
              <a:t>Sales Breakdown by Income Type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9584" y="2247899"/>
            <a:ext cx="5333866" cy="933449"/>
          </a:xfrm>
          <a:prstGeom prst="roundRect">
            <a:avLst>
              <a:gd name="adj" fmla="val 24489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09604" y="2438400"/>
            <a:ext cx="533386" cy="533399"/>
          </a:xfrm>
          <a:prstGeom prst="roundRect">
            <a:avLst>
              <a:gd name="adj" fmla="val 28571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33426" y="2533649"/>
            <a:ext cx="285742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FFFFFF"/>
                </a:solidFill>
                <a:latin typeface="Montserrat"/>
              </a:rPr>
              <a:t>13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3486" y="2571750"/>
            <a:ext cx="2609784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Poppins"/>
              </a:rPr>
              <a:t>Policy Type vs Policy Count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8243" y="2247899"/>
            <a:ext cx="5333866" cy="933449"/>
          </a:xfrm>
          <a:prstGeom prst="roundRect">
            <a:avLst>
              <a:gd name="adj" fmla="val 24489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448263" y="2438400"/>
            <a:ext cx="533386" cy="533399"/>
          </a:xfrm>
          <a:prstGeom prst="roundRect">
            <a:avLst>
              <a:gd name="adj" fmla="val 28571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62560" y="2533649"/>
            <a:ext cx="304792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FFFFFF"/>
                </a:solidFill>
                <a:latin typeface="Montserrat"/>
              </a:rPr>
              <a:t>14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72145" y="2438400"/>
            <a:ext cx="4209944" cy="5333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Poppins"/>
              </a:rPr>
              <a:t>Policy by Type (Engineering, Fire, Liability, Marine, etc.)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9584" y="3371850"/>
            <a:ext cx="5333866" cy="933449"/>
          </a:xfrm>
          <a:prstGeom prst="roundRect">
            <a:avLst>
              <a:gd name="adj" fmla="val 24489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09604" y="3562349"/>
            <a:ext cx="533386" cy="533399"/>
          </a:xfrm>
          <a:prstGeom prst="roundRect">
            <a:avLst>
              <a:gd name="adj" fmla="val 28571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33426" y="3657600"/>
            <a:ext cx="285742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FFFFFF"/>
                </a:solidFill>
                <a:latin typeface="Montserrat"/>
              </a:rPr>
              <a:t>15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33486" y="3695699"/>
            <a:ext cx="1790655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Poppins"/>
              </a:rPr>
              <a:t>Revenue by Month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48243" y="3371850"/>
            <a:ext cx="5333866" cy="933449"/>
          </a:xfrm>
          <a:prstGeom prst="roundRect">
            <a:avLst>
              <a:gd name="adj" fmla="val 24489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448263" y="3562349"/>
            <a:ext cx="533386" cy="533399"/>
          </a:xfrm>
          <a:prstGeom prst="roundRect">
            <a:avLst>
              <a:gd name="adj" fmla="val 28571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72085" y="3657600"/>
            <a:ext cx="295267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FFFFFF"/>
                </a:solidFill>
                <a:latin typeface="Montserrat"/>
              </a:rPr>
              <a:t>16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72145" y="3562349"/>
            <a:ext cx="4209944" cy="5333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Poppins"/>
              </a:rPr>
              <a:t>Client Connection Pulse (Meeting Count by Executive)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9584" y="4495799"/>
            <a:ext cx="5333866" cy="933449"/>
          </a:xfrm>
          <a:prstGeom prst="roundRect">
            <a:avLst>
              <a:gd name="adj" fmla="val 24489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09604" y="4686300"/>
            <a:ext cx="533386" cy="533399"/>
          </a:xfrm>
          <a:prstGeom prst="roundRect">
            <a:avLst>
              <a:gd name="adj" fmla="val 28571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33426" y="4781549"/>
            <a:ext cx="285742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FFFFFF"/>
                </a:solidFill>
                <a:latin typeface="Montserrat"/>
              </a:rPr>
              <a:t>17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33486" y="4819650"/>
            <a:ext cx="2085922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Poppins"/>
              </a:rPr>
              <a:t>Yearly Meeting Count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48243" y="4495799"/>
            <a:ext cx="5333866" cy="933449"/>
          </a:xfrm>
          <a:prstGeom prst="roundRect">
            <a:avLst>
              <a:gd name="adj" fmla="val 24489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6448263" y="4686300"/>
            <a:ext cx="533386" cy="533399"/>
          </a:xfrm>
          <a:prstGeom prst="roundRect">
            <a:avLst>
              <a:gd name="adj" fmla="val 28571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62560" y="4781549"/>
            <a:ext cx="304792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FFFFFF"/>
                </a:solidFill>
                <a:latin typeface="Montserrat"/>
              </a:rPr>
              <a:t>18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72145" y="4819650"/>
            <a:ext cx="3057448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Poppins"/>
              </a:rPr>
              <a:t>Number of Policies by Executive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09584" y="5619750"/>
            <a:ext cx="5333866" cy="933449"/>
          </a:xfrm>
          <a:prstGeom prst="roundRect">
            <a:avLst>
              <a:gd name="adj" fmla="val 24489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09604" y="5810249"/>
            <a:ext cx="533386" cy="533399"/>
          </a:xfrm>
          <a:prstGeom prst="roundRect">
            <a:avLst>
              <a:gd name="adj" fmla="val 28571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33426" y="5905500"/>
            <a:ext cx="295267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FFFFFF"/>
                </a:solidFill>
                <a:latin typeface="Montserrat"/>
              </a:rPr>
              <a:t>19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33486" y="5943600"/>
            <a:ext cx="3457488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Poppins"/>
              </a:rPr>
              <a:t>Policy by Status (Active vs Inactive)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48243" y="5619750"/>
            <a:ext cx="5333866" cy="933449"/>
          </a:xfrm>
          <a:prstGeom prst="roundRect">
            <a:avLst>
              <a:gd name="adj" fmla="val 24489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6448263" y="5810249"/>
            <a:ext cx="533386" cy="533399"/>
          </a:xfrm>
          <a:prstGeom prst="roundRect">
            <a:avLst>
              <a:gd name="adj" fmla="val 28571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533986" y="5905500"/>
            <a:ext cx="361940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FFFFFF"/>
                </a:solidFill>
                <a:latin typeface="Montserrat"/>
              </a:rPr>
              <a:t>20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72145" y="5943600"/>
            <a:ext cx="2304992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Poppins"/>
              </a:rPr>
              <a:t>Top Open Opportunities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E3A8A"/>
            </a:gs>
            <a:gs pos="50000">
              <a:srgbClr val="1E40AF"/>
            </a:gs>
            <a:gs pos="100000">
              <a:srgbClr val="3B82F6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9584" y="64540"/>
            <a:ext cx="342891" cy="32811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04872" y="38100"/>
            <a:ext cx="923901" cy="3809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FFFFFF"/>
                </a:solidFill>
                <a:latin typeface="Montserrat"/>
              </a:rPr>
              <a:t>Tools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95407" y="781050"/>
            <a:ext cx="8791355" cy="5772150"/>
          </a:xfrm>
          <a:prstGeom prst="roundRect">
            <a:avLst>
              <a:gd name="adj" fmla="val 3960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009724" y="1095374"/>
            <a:ext cx="8162720" cy="514350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E3A8A"/>
            </a:gs>
            <a:gs pos="50000">
              <a:srgbClr val="1E40AF"/>
            </a:gs>
            <a:gs pos="100000">
              <a:srgbClr val="3B82F6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9584" y="121854"/>
            <a:ext cx="342891" cy="28969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04872" y="76200"/>
            <a:ext cx="3009824" cy="3809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FFFFFF"/>
                </a:solidFill>
                <a:latin typeface="Montserrat"/>
              </a:rPr>
              <a:t>Excel Dashboard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584" y="847724"/>
            <a:ext cx="10972525" cy="5705475"/>
          </a:xfrm>
          <a:prstGeom prst="roundRect">
            <a:avLst>
              <a:gd name="adj" fmla="val 4006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23901" y="1162050"/>
            <a:ext cx="10343891" cy="5076825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E3A8A"/>
            </a:gs>
            <a:gs pos="50000">
              <a:srgbClr val="1E40AF"/>
            </a:gs>
            <a:gs pos="100000">
              <a:srgbClr val="3B82F6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9584" y="57478"/>
            <a:ext cx="342891" cy="26604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04872" y="0"/>
            <a:ext cx="3686082" cy="3809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FFFFFF"/>
                </a:solidFill>
                <a:latin typeface="Montserrat"/>
              </a:rPr>
              <a:t>Power BI Dashboard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57228" y="695325"/>
            <a:ext cx="10477238" cy="6153149"/>
          </a:xfrm>
          <a:prstGeom prst="roundRect">
            <a:avLst>
              <a:gd name="adj" fmla="val 3715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71545" y="1009649"/>
            <a:ext cx="9848603" cy="5524499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E3A8A"/>
            </a:gs>
            <a:gs pos="50000">
              <a:srgbClr val="1E40AF"/>
            </a:gs>
            <a:gs pos="100000">
              <a:srgbClr val="3B82F6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9584" y="84082"/>
            <a:ext cx="342891" cy="21283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04872" y="0"/>
            <a:ext cx="3476538" cy="3809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FFFFFF"/>
                </a:solidFill>
                <a:latin typeface="Montserrat"/>
              </a:rPr>
              <a:t>Tableau Dashboard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584" y="695325"/>
            <a:ext cx="10972525" cy="5972175"/>
          </a:xfrm>
          <a:prstGeom prst="roundRect">
            <a:avLst>
              <a:gd name="adj" fmla="val 3827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23901" y="1009649"/>
            <a:ext cx="10343891" cy="5343525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E3A8A"/>
            </a:gs>
            <a:gs pos="50000">
              <a:srgbClr val="1E40AF"/>
            </a:gs>
            <a:gs pos="100000">
              <a:srgbClr val="3B82F6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9584" y="69302"/>
            <a:ext cx="342891" cy="24239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04872" y="0"/>
            <a:ext cx="2733606" cy="3809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FFFFFF"/>
                </a:solidFill>
                <a:latin typeface="Montserrat"/>
              </a:rPr>
              <a:t>MySQL Queries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584" y="695325"/>
            <a:ext cx="10972525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780"/>
              </a:spcAft>
            </a:pPr>
            <a:r>
              <a:rPr sz="1794" b="1">
                <a:solidFill>
                  <a:srgbClr val="FFFFFF"/>
                </a:solidFill>
                <a:latin typeface="Montserrat"/>
              </a:rPr>
              <a:t>Total Brokerage Amount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584" y="1152524"/>
            <a:ext cx="10972525" cy="2219324"/>
          </a:xfrm>
          <a:prstGeom prst="roundRect">
            <a:avLst>
              <a:gd name="adj" fmla="val 10300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09604" y="1352549"/>
            <a:ext cx="8886602" cy="1819275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9584" y="3562349"/>
            <a:ext cx="10972525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780"/>
              </a:spcAft>
            </a:pPr>
            <a:r>
              <a:rPr sz="1794" b="1">
                <a:solidFill>
                  <a:srgbClr val="FFFFFF"/>
                </a:solidFill>
                <a:latin typeface="Montserrat"/>
              </a:rPr>
              <a:t>Profit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584" y="4019549"/>
            <a:ext cx="10972525" cy="2647949"/>
          </a:xfrm>
          <a:prstGeom prst="roundRect">
            <a:avLst>
              <a:gd name="adj" fmla="val 8633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09604" y="4219575"/>
            <a:ext cx="9419989" cy="2247899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E3A8A"/>
            </a:gs>
            <a:gs pos="50000">
              <a:srgbClr val="1E40AF"/>
            </a:gs>
            <a:gs pos="100000">
              <a:srgbClr val="3B82F6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9584" y="278852"/>
            <a:ext cx="342891" cy="24239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04872" y="209550"/>
            <a:ext cx="2733606" cy="3809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FFFFFF"/>
                </a:solidFill>
                <a:latin typeface="Montserrat"/>
              </a:rPr>
              <a:t>MySQL Queries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584" y="1114425"/>
            <a:ext cx="10972525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780"/>
              </a:spcAft>
            </a:pPr>
            <a:r>
              <a:rPr sz="1794" b="1">
                <a:solidFill>
                  <a:srgbClr val="FFFFFF"/>
                </a:solidFill>
                <a:latin typeface="Montserrat"/>
              </a:rPr>
              <a:t>Claim Ratio 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584" y="1571625"/>
            <a:ext cx="10972525" cy="2466975"/>
          </a:xfrm>
          <a:prstGeom prst="roundRect">
            <a:avLst>
              <a:gd name="adj" fmla="val 9266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09604" y="1771650"/>
            <a:ext cx="8848503" cy="2066924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9584" y="4229100"/>
            <a:ext cx="10972525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780"/>
              </a:spcAft>
            </a:pPr>
            <a:r>
              <a:rPr sz="1794" b="1">
                <a:solidFill>
                  <a:srgbClr val="FFFFFF"/>
                </a:solidFill>
                <a:latin typeface="Montserrat"/>
              </a:rPr>
              <a:t>Total Policies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584" y="4686300"/>
            <a:ext cx="10972525" cy="1866899"/>
          </a:xfrm>
          <a:prstGeom prst="roundRect">
            <a:avLst>
              <a:gd name="adj" fmla="val 12244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09604" y="4886325"/>
            <a:ext cx="5581510" cy="1400175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E3A8A"/>
            </a:gs>
            <a:gs pos="50000">
              <a:srgbClr val="1E40AF"/>
            </a:gs>
            <a:gs pos="100000">
              <a:srgbClr val="3B82F6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9584" y="278852"/>
            <a:ext cx="342891" cy="24239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04872" y="209550"/>
            <a:ext cx="2733606" cy="3809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FFFFFF"/>
                </a:solidFill>
                <a:latin typeface="Montserrat"/>
              </a:rPr>
              <a:t>MySQL Queries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584" y="1114425"/>
            <a:ext cx="10972525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780"/>
              </a:spcAft>
            </a:pPr>
            <a:r>
              <a:rPr sz="1794" b="1">
                <a:solidFill>
                  <a:srgbClr val="FFFFFF"/>
                </a:solidFill>
                <a:latin typeface="Montserrat"/>
              </a:rPr>
              <a:t>Total Active Policies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584" y="1571625"/>
            <a:ext cx="10972525" cy="2233459"/>
          </a:xfrm>
          <a:prstGeom prst="roundRect">
            <a:avLst>
              <a:gd name="adj" fmla="val 8391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09604" y="1771650"/>
            <a:ext cx="5800579" cy="1905615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9584" y="3876673"/>
            <a:ext cx="10972525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780"/>
              </a:spcAft>
            </a:pPr>
            <a:r>
              <a:rPr sz="1794" b="1">
                <a:solidFill>
                  <a:srgbClr val="FFFFFF"/>
                </a:solidFill>
                <a:latin typeface="Montserrat"/>
              </a:rPr>
              <a:t>Total Inactive Policies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584" y="4291162"/>
            <a:ext cx="10972525" cy="2262037"/>
          </a:xfrm>
          <a:prstGeom prst="roundRect">
            <a:avLst>
              <a:gd name="adj" fmla="val 14201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A white background with text&#10;&#10;AI-generated content may be incorrect.">
            <a:extLst>
              <a:ext uri="{FF2B5EF4-FFF2-40B4-BE49-F238E27FC236}">
                <a16:creationId xmlns:a16="http://schemas.microsoft.com/office/drawing/2014/main" id="{CA30D125-13B9-2946-F770-60FC772542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04" y="4454013"/>
            <a:ext cx="6269622" cy="191729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E3A8A"/>
            </a:gs>
            <a:gs pos="50000">
              <a:srgbClr val="1E40AF"/>
            </a:gs>
            <a:gs pos="100000">
              <a:srgbClr val="3B82F6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9584" y="278852"/>
            <a:ext cx="342891" cy="24239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04872" y="209550"/>
            <a:ext cx="2733606" cy="3809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FFFFFF"/>
                </a:solidFill>
                <a:latin typeface="Montserrat"/>
              </a:rPr>
              <a:t>MySQL Queries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584" y="1114425"/>
            <a:ext cx="10972525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780"/>
              </a:spcAft>
            </a:pPr>
            <a:r>
              <a:rPr sz="1794" b="1">
                <a:solidFill>
                  <a:srgbClr val="FFFFFF"/>
                </a:solidFill>
                <a:latin typeface="Montserrat"/>
              </a:rPr>
              <a:t>Total Meetings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584" y="1571625"/>
            <a:ext cx="10972525" cy="2171700"/>
          </a:xfrm>
          <a:prstGeom prst="roundRect">
            <a:avLst>
              <a:gd name="adj" fmla="val 10526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9584" y="3924299"/>
            <a:ext cx="10972525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780"/>
              </a:spcAft>
            </a:pPr>
            <a:r>
              <a:rPr sz="1794" b="1">
                <a:solidFill>
                  <a:srgbClr val="FFFFFF"/>
                </a:solidFill>
                <a:latin typeface="Montserrat"/>
              </a:rPr>
              <a:t>Total Customers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9584" y="4381499"/>
            <a:ext cx="10972525" cy="2171700"/>
          </a:xfrm>
          <a:prstGeom prst="roundRect">
            <a:avLst>
              <a:gd name="adj" fmla="val 10526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A close-up of a computer code&#10;&#10;AI-generated content may be incorrect.">
            <a:extLst>
              <a:ext uri="{FF2B5EF4-FFF2-40B4-BE49-F238E27FC236}">
                <a16:creationId xmlns:a16="http://schemas.microsoft.com/office/drawing/2014/main" id="{9C741A4D-67D3-5055-71F1-45AC4384CC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029" y="4529031"/>
            <a:ext cx="7074945" cy="1901265"/>
          </a:xfrm>
          <a:prstGeom prst="rect">
            <a:avLst/>
          </a:prstGeom>
        </p:spPr>
      </p:pic>
      <p:pic>
        <p:nvPicPr>
          <p:cNvPr id="15" name="Picture 14" descr="A close-up of a text&#10;&#10;AI-generated content may be incorrect.">
            <a:extLst>
              <a:ext uri="{FF2B5EF4-FFF2-40B4-BE49-F238E27FC236}">
                <a16:creationId xmlns:a16="http://schemas.microsoft.com/office/drawing/2014/main" id="{FC2474D3-859E-952A-92C1-80408DD698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029" y="1771367"/>
            <a:ext cx="6199874" cy="183707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E3A8A"/>
            </a:gs>
            <a:gs pos="50000">
              <a:srgbClr val="1E40AF"/>
            </a:gs>
            <a:gs pos="100000">
              <a:srgbClr val="3B82F6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9584" y="278852"/>
            <a:ext cx="342891" cy="24239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04872" y="209550"/>
            <a:ext cx="2733606" cy="3809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FFFFFF"/>
                </a:solidFill>
                <a:latin typeface="Montserrat"/>
              </a:rPr>
              <a:t>MySQL Queries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584" y="1114425"/>
            <a:ext cx="10972525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780"/>
              </a:spcAft>
            </a:pPr>
            <a:r>
              <a:rPr sz="1794" b="1" dirty="0">
                <a:solidFill>
                  <a:srgbClr val="FFFFFF"/>
                </a:solidFill>
                <a:latin typeface="Montserrat"/>
              </a:rPr>
              <a:t>Total Meetings by executives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584" y="1571625"/>
            <a:ext cx="10972525" cy="2171700"/>
          </a:xfrm>
          <a:prstGeom prst="roundRect">
            <a:avLst>
              <a:gd name="adj" fmla="val 10526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9584" y="3924299"/>
            <a:ext cx="10972525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780"/>
              </a:spcAft>
            </a:pPr>
            <a:r>
              <a:rPr sz="1794" b="1">
                <a:solidFill>
                  <a:srgbClr val="FFFFFF"/>
                </a:solidFill>
                <a:latin typeface="Montserrat"/>
              </a:rPr>
              <a:t>Top 10 Opportunities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9584" y="4381499"/>
            <a:ext cx="10972525" cy="2171700"/>
          </a:xfrm>
          <a:prstGeom prst="roundRect">
            <a:avLst>
              <a:gd name="adj" fmla="val 10526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A close-up of a computer code&#10;&#10;AI-generated content may be incorrect.">
            <a:extLst>
              <a:ext uri="{FF2B5EF4-FFF2-40B4-BE49-F238E27FC236}">
                <a16:creationId xmlns:a16="http://schemas.microsoft.com/office/drawing/2014/main" id="{64FAA884-CF07-3617-78F3-1767EE0071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028" y="1704976"/>
            <a:ext cx="6612829" cy="1904998"/>
          </a:xfrm>
          <a:prstGeom prst="rect">
            <a:avLst/>
          </a:prstGeom>
        </p:spPr>
      </p:pic>
      <p:pic>
        <p:nvPicPr>
          <p:cNvPr id="17" name="Picture 16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758DB281-3076-1138-E3F2-61C4EFFAD5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028" y="4528368"/>
            <a:ext cx="6887536" cy="187796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E3A8A"/>
            </a:gs>
            <a:gs pos="50000">
              <a:srgbClr val="1E40AF"/>
            </a:gs>
            <a:gs pos="100000">
              <a:srgbClr val="3B82F6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9584" y="278852"/>
            <a:ext cx="342891" cy="24239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04872" y="209550"/>
            <a:ext cx="2733606" cy="3809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FFFFFF"/>
                </a:solidFill>
                <a:latin typeface="Montserrat"/>
              </a:rPr>
              <a:t>MySQL Queries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584" y="1114425"/>
            <a:ext cx="10972525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780"/>
              </a:spcAft>
            </a:pPr>
            <a:r>
              <a:rPr sz="1794" b="1">
                <a:solidFill>
                  <a:srgbClr val="FFFFFF"/>
                </a:solidFill>
                <a:latin typeface="Montserrat"/>
              </a:rPr>
              <a:t>Policy Group by Policy Count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584" y="1571625"/>
            <a:ext cx="10972525" cy="2171700"/>
          </a:xfrm>
          <a:prstGeom prst="roundRect">
            <a:avLst>
              <a:gd name="adj" fmla="val 10526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09584" y="4381499"/>
            <a:ext cx="10972525" cy="2171700"/>
          </a:xfrm>
          <a:prstGeom prst="roundRect">
            <a:avLst>
              <a:gd name="adj" fmla="val 10526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A close-up of a computer code&#10;&#10;AI-generated content may be incorrect.">
            <a:extLst>
              <a:ext uri="{FF2B5EF4-FFF2-40B4-BE49-F238E27FC236}">
                <a16:creationId xmlns:a16="http://schemas.microsoft.com/office/drawing/2014/main" id="{6ACBC9DD-66CD-ABE3-8F72-171FCACD15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029" y="1740310"/>
            <a:ext cx="7344800" cy="185829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09584" y="3902178"/>
            <a:ext cx="10972525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780"/>
              </a:spcAft>
            </a:pPr>
            <a:r>
              <a:rPr sz="1794" b="1" dirty="0">
                <a:solidFill>
                  <a:srgbClr val="FFFFFF"/>
                </a:solidFill>
                <a:latin typeface="Montserrat"/>
              </a:rPr>
              <a:t>Stage Wise revenue</a:t>
            </a:r>
          </a:p>
        </p:txBody>
      </p:sp>
      <p:pic>
        <p:nvPicPr>
          <p:cNvPr id="20" name="Picture 19" descr="A white background with black and orange text&#10;&#10;AI-generated content may be incorrect.">
            <a:extLst>
              <a:ext uri="{FF2B5EF4-FFF2-40B4-BE49-F238E27FC236}">
                <a16:creationId xmlns:a16="http://schemas.microsoft.com/office/drawing/2014/main" id="{00480B7B-8E81-A2A5-25EC-99106FC64F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029" y="4522839"/>
            <a:ext cx="7344800" cy="189762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E3A8A"/>
            </a:gs>
            <a:gs pos="50000">
              <a:srgbClr val="1E40AF"/>
            </a:gs>
            <a:gs pos="100000">
              <a:srgbClr val="3B82F6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9584" y="278852"/>
            <a:ext cx="342891" cy="24239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04872" y="209550"/>
            <a:ext cx="2733606" cy="3809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FFFFFF"/>
                </a:solidFill>
                <a:latin typeface="Montserrat"/>
              </a:rPr>
              <a:t>MySQL Queries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584" y="1571625"/>
            <a:ext cx="10972525" cy="4642362"/>
          </a:xfrm>
          <a:prstGeom prst="roundRect">
            <a:avLst>
              <a:gd name="adj" fmla="val 10526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6C34126-324C-10BA-7AA7-B8CBEC515767}"/>
              </a:ext>
            </a:extLst>
          </p:cNvPr>
          <p:cNvSpPr txBox="1"/>
          <p:nvPr/>
        </p:nvSpPr>
        <p:spPr>
          <a:xfrm>
            <a:off x="609583" y="1114425"/>
            <a:ext cx="10972525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780"/>
              </a:spcAft>
            </a:pPr>
            <a:r>
              <a:rPr sz="1794" b="1">
                <a:solidFill>
                  <a:srgbClr val="FFFFFF"/>
                </a:solidFill>
                <a:latin typeface="Montserrat"/>
              </a:rPr>
              <a:t>Revenue Collection by executive</a:t>
            </a:r>
          </a:p>
        </p:txBody>
      </p:sp>
      <p:pic>
        <p:nvPicPr>
          <p:cNvPr id="16" name="Picture 15" descr="A close-up of a computer code&#10;&#10;AI-generated content may be incorrect.">
            <a:extLst>
              <a:ext uri="{FF2B5EF4-FFF2-40B4-BE49-F238E27FC236}">
                <a16:creationId xmlns:a16="http://schemas.microsoft.com/office/drawing/2014/main" id="{D170E8EE-8E39-1134-21C6-E957A6F210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475" y="1827701"/>
            <a:ext cx="8659433" cy="416014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E3A8A"/>
            </a:gs>
            <a:gs pos="50000">
              <a:srgbClr val="1E40AF"/>
            </a:gs>
            <a:gs pos="100000">
              <a:srgbClr val="3B82F6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9584" y="278852"/>
            <a:ext cx="342891" cy="24239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04872" y="209550"/>
            <a:ext cx="2733606" cy="3809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FFFFFF"/>
                </a:solidFill>
                <a:latin typeface="Montserrat"/>
              </a:rPr>
              <a:t>MySQL Queries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990" y="1000125"/>
            <a:ext cx="11429714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520"/>
              </a:spcAft>
            </a:pPr>
            <a:r>
              <a:rPr sz="1794" b="1">
                <a:solidFill>
                  <a:srgbClr val="FFFFFF"/>
                </a:solidFill>
                <a:latin typeface="Montserrat"/>
              </a:rPr>
              <a:t>Total Meeting by Revenue by Executive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0990" y="1495433"/>
            <a:ext cx="11429714" cy="4867274"/>
          </a:xfrm>
          <a:prstGeom prst="roundRect">
            <a:avLst>
              <a:gd name="adj" fmla="val 4696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124F4696-B01E-3881-6A33-F0DDA4CE20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387" y="1622323"/>
            <a:ext cx="11117226" cy="4532671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E3A8A"/>
            </a:gs>
            <a:gs pos="50000">
              <a:srgbClr val="1E40AF"/>
            </a:gs>
            <a:gs pos="100000">
              <a:srgbClr val="3B82F6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9584" y="272940"/>
            <a:ext cx="342891" cy="25421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04872" y="209550"/>
            <a:ext cx="2209744" cy="3809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FFFFFF"/>
                </a:solidFill>
                <a:latin typeface="Montserrat"/>
              </a:rPr>
              <a:t>Key Insights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584" y="1114425"/>
            <a:ext cx="5371965" cy="2609850"/>
          </a:xfrm>
          <a:prstGeom prst="roundRect">
            <a:avLst>
              <a:gd name="adj" fmla="val 8759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47703" y="1352549"/>
            <a:ext cx="457188" cy="457200"/>
          </a:xfrm>
          <a:prstGeom prst="roundRect">
            <a:avLst>
              <a:gd name="adj" fmla="val 41662500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8674" y="1428750"/>
            <a:ext cx="85722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57288" y="1352549"/>
            <a:ext cx="4286142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780"/>
              </a:spcAft>
            </a:pPr>
            <a:r>
              <a:rPr sz="1435" b="1">
                <a:solidFill>
                  <a:srgbClr val="FFFFFF"/>
                </a:solidFill>
                <a:latin typeface="Montserrat"/>
              </a:rPr>
              <a:t>Business Performance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57288" y="1876424"/>
            <a:ext cx="57148" cy="57150"/>
          </a:xfrm>
          <a:prstGeom prst="roundRect">
            <a:avLst>
              <a:gd name="adj" fmla="val 333300000"/>
            </a:avLst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590635" y="1771650"/>
            <a:ext cx="4019449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DBEAFE"/>
                </a:solidFill>
                <a:latin typeface="Poppins"/>
              </a:rPr>
              <a:t>Strong revenue (~6.8M) with high profit (~136M)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57288" y="2352675"/>
            <a:ext cx="47623" cy="57150"/>
          </a:xfrm>
          <a:prstGeom prst="roundRect">
            <a:avLst>
              <a:gd name="adj" fmla="val 399960000"/>
            </a:avLst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581110" y="2114550"/>
            <a:ext cx="4162320" cy="5333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DBEAFE"/>
                </a:solidFill>
                <a:latin typeface="Poppins"/>
              </a:rPr>
              <a:t>Low claim ratio (~4.81%) indicates effective risk management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0144" y="1114425"/>
            <a:ext cx="5371965" cy="2609850"/>
          </a:xfrm>
          <a:prstGeom prst="roundRect">
            <a:avLst>
              <a:gd name="adj" fmla="val 8759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448263" y="1352549"/>
            <a:ext cx="457188" cy="457200"/>
          </a:xfrm>
          <a:prstGeom prst="roundRect">
            <a:avLst>
              <a:gd name="adj" fmla="val 41662500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10184" y="1428750"/>
            <a:ext cx="133346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57848" y="1352549"/>
            <a:ext cx="4286142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780"/>
              </a:spcAft>
            </a:pPr>
            <a:r>
              <a:rPr sz="1435" b="1">
                <a:solidFill>
                  <a:srgbClr val="FFFFFF"/>
                </a:solidFill>
                <a:latin typeface="Montserrat"/>
              </a:rPr>
              <a:t>Policy Portfolio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57848" y="2009774"/>
            <a:ext cx="47623" cy="57150"/>
          </a:xfrm>
          <a:prstGeom prst="roundRect">
            <a:avLst>
              <a:gd name="adj" fmla="val 399960000"/>
            </a:avLst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81670" y="1771650"/>
            <a:ext cx="4162320" cy="5333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DBEAFE"/>
                </a:solidFill>
                <a:latin typeface="Poppins"/>
              </a:rPr>
              <a:t>734 active out of 961 policies; 227 inactive (~23% renewal gap)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57848" y="2619374"/>
            <a:ext cx="38099" cy="57150"/>
          </a:xfrm>
          <a:prstGeom prst="roundRect">
            <a:avLst>
              <a:gd name="adj" fmla="val 499950000"/>
            </a:avLst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172145" y="2381250"/>
            <a:ext cx="4171845" cy="5333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DBEAFE"/>
                </a:solidFill>
                <a:latin typeface="Poppins"/>
              </a:rPr>
              <a:t>Renewals (46.8%) &amp; Cross-sell (44.3%) dominate; low new business (~8.8%)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9584" y="3943350"/>
            <a:ext cx="5371965" cy="2609850"/>
          </a:xfrm>
          <a:prstGeom prst="roundRect">
            <a:avLst>
              <a:gd name="adj" fmla="val 8759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47703" y="4190999"/>
            <a:ext cx="457188" cy="457200"/>
          </a:xfrm>
          <a:prstGeom prst="roundRect">
            <a:avLst>
              <a:gd name="adj" fmla="val 41662500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09624" y="4267199"/>
            <a:ext cx="133346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57288" y="4190999"/>
            <a:ext cx="4286142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780"/>
              </a:spcAft>
            </a:pPr>
            <a:r>
              <a:rPr sz="1435" b="1">
                <a:solidFill>
                  <a:srgbClr val="FFFFFF"/>
                </a:solidFill>
                <a:latin typeface="Montserrat"/>
              </a:rPr>
              <a:t>Sales &amp; Funnel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457288" y="4838699"/>
            <a:ext cx="38099" cy="57150"/>
          </a:xfrm>
          <a:prstGeom prst="roundRect">
            <a:avLst>
              <a:gd name="adj" fmla="val 499950000"/>
            </a:avLst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571585" y="4610099"/>
            <a:ext cx="4171845" cy="5333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DBEAFE"/>
                </a:solidFill>
                <a:latin typeface="Poppins"/>
              </a:rPr>
              <a:t>Major drop: Qualification (5.9M) → Negotiation (0.9M) → Proposal (0.1M)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457288" y="5448300"/>
            <a:ext cx="38099" cy="57150"/>
          </a:xfrm>
          <a:prstGeom prst="roundRect">
            <a:avLst>
              <a:gd name="adj" fmla="val 499950000"/>
            </a:avLst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571585" y="5219700"/>
            <a:ext cx="4171845" cy="5333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DBEAFE"/>
                </a:solidFill>
                <a:latin typeface="Poppins"/>
              </a:rPr>
              <a:t>Significant conversion leakage indicates inefficiencies in closing deals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0144" y="3943350"/>
            <a:ext cx="5371965" cy="2609850"/>
          </a:xfrm>
          <a:prstGeom prst="roundRect">
            <a:avLst>
              <a:gd name="adj" fmla="val 8759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448263" y="4190999"/>
            <a:ext cx="457188" cy="457200"/>
          </a:xfrm>
          <a:prstGeom prst="roundRect">
            <a:avLst>
              <a:gd name="adj" fmla="val 41662500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600659" y="4267199"/>
            <a:ext cx="161920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57848" y="4190999"/>
            <a:ext cx="4286142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780"/>
              </a:spcAft>
            </a:pPr>
            <a:r>
              <a:rPr sz="1435" b="1">
                <a:solidFill>
                  <a:srgbClr val="FFFFFF"/>
                </a:solidFill>
                <a:latin typeface="Montserrat"/>
              </a:rPr>
              <a:t>Employee Performance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057848" y="4838699"/>
            <a:ext cx="57148" cy="57150"/>
          </a:xfrm>
          <a:prstGeom prst="roundRect">
            <a:avLst>
              <a:gd name="adj" fmla="val 333300000"/>
            </a:avLst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191195" y="4610099"/>
            <a:ext cx="4152796" cy="5333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DBEAFE"/>
                </a:solidFill>
                <a:latin typeface="Poppins"/>
              </a:rPr>
              <a:t>Revenue contribution is skewed; top performer ~4.5M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057848" y="5448300"/>
            <a:ext cx="38099" cy="57150"/>
          </a:xfrm>
          <a:prstGeom prst="roundRect">
            <a:avLst>
              <a:gd name="adj" fmla="val 499950000"/>
            </a:avLst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172145" y="5219700"/>
            <a:ext cx="4171845" cy="5333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DBEAFE"/>
                </a:solidFill>
                <a:latin typeface="Poppins"/>
              </a:rPr>
              <a:t>Performance gaps and training needs identified; varying claim ratios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E3A8A"/>
            </a:gs>
            <a:gs pos="50000">
              <a:srgbClr val="1E40AF"/>
            </a:gs>
            <a:gs pos="100000">
              <a:srgbClr val="3B82F6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9584" y="272940"/>
            <a:ext cx="342891" cy="25421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04872" y="209550"/>
            <a:ext cx="2209744" cy="3809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FFFFFF"/>
                </a:solidFill>
                <a:latin typeface="Montserrat"/>
              </a:rPr>
              <a:t>Key Insights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584" y="1114425"/>
            <a:ext cx="5371965" cy="2609850"/>
          </a:xfrm>
          <a:prstGeom prst="roundRect">
            <a:avLst>
              <a:gd name="adj" fmla="val 8759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47703" y="1352549"/>
            <a:ext cx="457188" cy="457200"/>
          </a:xfrm>
          <a:prstGeom prst="roundRect">
            <a:avLst>
              <a:gd name="adj" fmla="val 41662500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9624" y="1428750"/>
            <a:ext cx="133346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Montserrat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57288" y="1352549"/>
            <a:ext cx="4286142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780"/>
              </a:spcAft>
            </a:pPr>
            <a:r>
              <a:rPr sz="1435" b="1">
                <a:solidFill>
                  <a:srgbClr val="FFFFFF"/>
                </a:solidFill>
                <a:latin typeface="Montserrat"/>
              </a:rPr>
              <a:t>Customer Engagement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57288" y="2009774"/>
            <a:ext cx="57148" cy="57150"/>
          </a:xfrm>
          <a:prstGeom prst="roundRect">
            <a:avLst>
              <a:gd name="adj" fmla="val 333300000"/>
            </a:avLst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590635" y="1771650"/>
            <a:ext cx="4152796" cy="5333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DBEAFE"/>
                </a:solidFill>
                <a:latin typeface="Poppins"/>
              </a:rPr>
              <a:t>Total meetings (34) are low compared to revenue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57288" y="2619374"/>
            <a:ext cx="38099" cy="57150"/>
          </a:xfrm>
          <a:prstGeom prst="roundRect">
            <a:avLst>
              <a:gd name="adj" fmla="val 499950000"/>
            </a:avLst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571585" y="2381250"/>
            <a:ext cx="4171845" cy="5333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DBEAFE"/>
                </a:solidFill>
                <a:latin typeface="Poppins"/>
              </a:rPr>
              <a:t>Uneven client interaction across executives indicates inconsistent outreach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0144" y="1114425"/>
            <a:ext cx="5371965" cy="2609850"/>
          </a:xfrm>
          <a:prstGeom prst="roundRect">
            <a:avLst>
              <a:gd name="adj" fmla="val 8759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448263" y="1352549"/>
            <a:ext cx="457188" cy="457200"/>
          </a:xfrm>
          <a:prstGeom prst="roundRect">
            <a:avLst>
              <a:gd name="adj" fmla="val 41662500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00659" y="1428750"/>
            <a:ext cx="142871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Montserrat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57848" y="1352549"/>
            <a:ext cx="4286142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780"/>
              </a:spcAft>
            </a:pPr>
            <a:r>
              <a:rPr sz="1435" b="1">
                <a:solidFill>
                  <a:srgbClr val="FFFFFF"/>
                </a:solidFill>
                <a:latin typeface="Montserrat"/>
              </a:rPr>
              <a:t>Product &amp; Policy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57848" y="2009774"/>
            <a:ext cx="47623" cy="57150"/>
          </a:xfrm>
          <a:prstGeom prst="roundRect">
            <a:avLst>
              <a:gd name="adj" fmla="val 399960000"/>
            </a:avLst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81670" y="1771650"/>
            <a:ext cx="4162320" cy="5333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DBEAFE"/>
                </a:solidFill>
                <a:latin typeface="Poppins"/>
              </a:rPr>
              <a:t>Engineering and Miscellaneous policies dominate in policy count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57848" y="2619374"/>
            <a:ext cx="38099" cy="57150"/>
          </a:xfrm>
          <a:prstGeom prst="roundRect">
            <a:avLst>
              <a:gd name="adj" fmla="val 499950000"/>
            </a:avLst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162620" y="2381250"/>
            <a:ext cx="4181370" cy="5333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DBEAFE"/>
                </a:solidFill>
                <a:latin typeface="Poppins"/>
              </a:rPr>
              <a:t>Marine and Employee Benefits have lower adoption with untapped growth potential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9584" y="3943350"/>
            <a:ext cx="5371965" cy="2609850"/>
          </a:xfrm>
          <a:prstGeom prst="roundRect">
            <a:avLst>
              <a:gd name="adj" fmla="val 8759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47703" y="4190999"/>
            <a:ext cx="457188" cy="457200"/>
          </a:xfrm>
          <a:prstGeom prst="roundRect">
            <a:avLst>
              <a:gd name="adj" fmla="val 41662500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09624" y="4267199"/>
            <a:ext cx="142871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Montserrat"/>
              </a:rP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57288" y="4190999"/>
            <a:ext cx="4286142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780"/>
              </a:spcAft>
            </a:pPr>
            <a:r>
              <a:rPr sz="1435" b="1">
                <a:solidFill>
                  <a:srgbClr val="FFFFFF"/>
                </a:solidFill>
                <a:latin typeface="Montserrat"/>
              </a:rPr>
              <a:t>Revenue Trends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457288" y="4838699"/>
            <a:ext cx="38099" cy="57150"/>
          </a:xfrm>
          <a:prstGeom prst="roundRect">
            <a:avLst>
              <a:gd name="adj" fmla="val 499950000"/>
            </a:avLst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571585" y="4610099"/>
            <a:ext cx="4171845" cy="5333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DBEAFE"/>
                </a:solidFill>
                <a:latin typeface="Poppins"/>
              </a:rPr>
              <a:t>Highly seasonal: Peaks in December (~5.6M) and July &amp; August (~4.2M each)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457288" y="5448300"/>
            <a:ext cx="28574" cy="57150"/>
          </a:xfrm>
          <a:prstGeom prst="roundRect">
            <a:avLst>
              <a:gd name="adj" fmla="val 666600000"/>
            </a:avLst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562060" y="5219700"/>
            <a:ext cx="4181370" cy="5333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DBEAFE"/>
                </a:solidFill>
                <a:latin typeface="Poppins"/>
              </a:rPr>
              <a:t>Low performance months (April, May, June) indicate off-season dips or missed opportunities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0144" y="3943350"/>
            <a:ext cx="5371965" cy="2609850"/>
          </a:xfrm>
          <a:prstGeom prst="roundRect">
            <a:avLst>
              <a:gd name="adj" fmla="val 8759"/>
            </a:avLst>
          </a:prstGeom>
          <a:solidFill>
            <a:srgbClr val="FFFFFF">
              <a:alpha val="5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448263" y="4190999"/>
            <a:ext cx="457188" cy="457200"/>
          </a:xfrm>
          <a:prstGeom prst="roundRect">
            <a:avLst>
              <a:gd name="adj" fmla="val 41662500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600659" y="4267199"/>
            <a:ext cx="152396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Montserrat"/>
              </a:rPr>
              <a:t>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57848" y="4190999"/>
            <a:ext cx="4286142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780"/>
              </a:spcAft>
            </a:pPr>
            <a:r>
              <a:rPr sz="1435" b="1">
                <a:solidFill>
                  <a:srgbClr val="FFFFFF"/>
                </a:solidFill>
                <a:latin typeface="Montserrat"/>
              </a:rPr>
              <a:t>Opportunity Insights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057848" y="4838699"/>
            <a:ext cx="47623" cy="57150"/>
          </a:xfrm>
          <a:prstGeom prst="roundRect">
            <a:avLst>
              <a:gd name="adj" fmla="val 399960000"/>
            </a:avLst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181670" y="4610099"/>
            <a:ext cx="4162320" cy="5333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DBEAFE"/>
                </a:solidFill>
                <a:latin typeface="Poppins"/>
              </a:rPr>
              <a:t>High-value open opportunities suggest future revenue potential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057848" y="5448300"/>
            <a:ext cx="38099" cy="57150"/>
          </a:xfrm>
          <a:prstGeom prst="roundRect">
            <a:avLst>
              <a:gd name="adj" fmla="val 499950000"/>
            </a:avLst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172145" y="5219700"/>
            <a:ext cx="4171845" cy="5333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DBEAFE"/>
                </a:solidFill>
                <a:latin typeface="Poppins"/>
              </a:rPr>
              <a:t>Focus on top deals could significantly boost revenue if closed effectively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E3A8A"/>
            </a:gs>
            <a:gs pos="50000">
              <a:srgbClr val="1E40AF"/>
            </a:gs>
            <a:gs pos="100000">
              <a:srgbClr val="3B82F6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364" y="71182"/>
            <a:ext cx="1714457" cy="1451693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34090" y="5363581"/>
            <a:ext cx="1428714" cy="125405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96247" y="1515717"/>
            <a:ext cx="1142971" cy="96906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76738" y="1428750"/>
            <a:ext cx="1238219" cy="847724"/>
          </a:xfrm>
          <a:prstGeom prst="roundRect">
            <a:avLst>
              <a:gd name="adj" fmla="val 22469662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67253" y="1611228"/>
            <a:ext cx="457188" cy="39704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248043" y="2571750"/>
            <a:ext cx="3695607" cy="10001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6825"/>
              </a:lnSpc>
              <a:spcBef>
                <a:spcPts val="0"/>
              </a:spcBef>
              <a:spcAft>
                <a:spcPts val="1560"/>
              </a:spcAft>
            </a:pPr>
            <a:r>
              <a:rPr sz="4186" b="1">
                <a:solidFill>
                  <a:srgbClr val="FFFFFF"/>
                </a:solidFill>
                <a:latin typeface="Montserrat"/>
              </a:rPr>
              <a:t>Thank You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262" y="3809999"/>
            <a:ext cx="1219169" cy="38100"/>
          </a:xfrm>
          <a:prstGeom prst="rect">
            <a:avLst/>
          </a:prstGeom>
          <a:solidFill>
            <a:srgbClr val="FFFF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48043" y="4152899"/>
            <a:ext cx="3695607" cy="3714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DBEAFE"/>
                </a:solidFill>
                <a:latin typeface="Poppins"/>
              </a:rPr>
              <a:t>For Your Attention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19369" y="6226628"/>
            <a:ext cx="152396" cy="11974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447963" y="6191250"/>
            <a:ext cx="1304892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BFDBFE"/>
                </a:solidFill>
                <a:latin typeface="Poppins"/>
              </a:rPr>
              <a:t>Insurance Analytics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81450" y="6267449"/>
            <a:ext cx="38099" cy="38100"/>
          </a:xfrm>
          <a:prstGeom prst="roundRect">
            <a:avLst>
              <a:gd name="adj" fmla="val 200000"/>
            </a:avLst>
          </a:prstGeom>
          <a:solidFill>
            <a:srgbClr val="FFFF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248143" y="6237514"/>
            <a:ext cx="152396" cy="97971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476738" y="6191250"/>
            <a:ext cx="1362040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BFDBFE"/>
                </a:solidFill>
                <a:latin typeface="Poppins"/>
              </a:rPr>
              <a:t>Data-Driven Insights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67373" y="6267449"/>
            <a:ext cx="38099" cy="38100"/>
          </a:xfrm>
          <a:prstGeom prst="roundRect">
            <a:avLst>
              <a:gd name="adj" fmla="val 200000"/>
            </a:avLst>
          </a:prstGeom>
          <a:solidFill>
            <a:srgbClr val="FFFF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334066" y="6227989"/>
            <a:ext cx="152396" cy="11702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562660" y="6191250"/>
            <a:ext cx="1409664" cy="1904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BFDBFE"/>
                </a:solidFill>
                <a:latin typeface="Poppins"/>
              </a:rPr>
              <a:t>Strategic Intelligence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616</Words>
  <Application>Microsoft Office PowerPoint</Application>
  <PresentationFormat>Widescreen</PresentationFormat>
  <Paragraphs>159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Montserrat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DEVA</dc:creator>
  <cp:keywords/>
  <dc:description>generated using python-pptx</dc:description>
  <cp:lastModifiedBy>MATURU PAVAN KUMAR</cp:lastModifiedBy>
  <cp:revision>2</cp:revision>
  <dcterms:created xsi:type="dcterms:W3CDTF">2013-01-27T09:14:16Z</dcterms:created>
  <dcterms:modified xsi:type="dcterms:W3CDTF">2026-04-24T08:34:26Z</dcterms:modified>
  <cp:category/>
</cp:coreProperties>
</file>